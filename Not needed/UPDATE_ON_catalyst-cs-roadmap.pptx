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9B84D"/>
          </a:solidFill>
          <a:ln w="12700">
            <a:solidFill>
              <a:srgbClr val="79B8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65760"/>
            <a:ext cx="411480" cy="1097280"/>
          </a:xfrm>
          <a:prstGeom prst="rect">
            <a:avLst/>
          </a:prstGeom>
          <a:solidFill>
            <a:srgbClr val="79B84D">
              <a:alpha val="12000"/>
            </a:srgbClr>
          </a:solidFill>
          <a:ln w="6350">
            <a:solidFill>
              <a:srgbClr val="79B84D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365760"/>
            <a:ext cx="411480" cy="1097280"/>
          </a:xfrm>
          <a:prstGeom prst="rect">
            <a:avLst/>
          </a:prstGeom>
          <a:solidFill>
            <a:srgbClr val="79B84D">
              <a:alpha val="12000"/>
            </a:srgbClr>
          </a:solidFill>
          <a:ln w="6350">
            <a:solidFill>
              <a:srgbClr val="79B84D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1645920"/>
            <a:ext cx="411480" cy="1097280"/>
          </a:xfrm>
          <a:prstGeom prst="rect">
            <a:avLst/>
          </a:prstGeom>
          <a:solidFill>
            <a:srgbClr val="79B84D">
              <a:alpha val="12000"/>
            </a:srgbClr>
          </a:solidFill>
          <a:ln w="6350">
            <a:solidFill>
              <a:srgbClr val="79B84D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32520" y="1645920"/>
            <a:ext cx="411480" cy="1097280"/>
          </a:xfrm>
          <a:prstGeom prst="rect">
            <a:avLst/>
          </a:prstGeom>
          <a:solidFill>
            <a:srgbClr val="79B84D">
              <a:alpha val="12000"/>
            </a:srgbClr>
          </a:solidFill>
          <a:ln w="6350">
            <a:solidFill>
              <a:srgbClr val="79B84D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2926080"/>
            <a:ext cx="411480" cy="1097280"/>
          </a:xfrm>
          <a:prstGeom prst="rect">
            <a:avLst/>
          </a:prstGeom>
          <a:solidFill>
            <a:srgbClr val="79B84D">
              <a:alpha val="12000"/>
            </a:srgbClr>
          </a:solidFill>
          <a:ln w="6350">
            <a:solidFill>
              <a:srgbClr val="79B84D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2926080"/>
            <a:ext cx="411480" cy="1097280"/>
          </a:xfrm>
          <a:prstGeom prst="rect">
            <a:avLst/>
          </a:prstGeom>
          <a:solidFill>
            <a:srgbClr val="79B84D">
              <a:alpha val="12000"/>
            </a:srgbClr>
          </a:solidFill>
          <a:ln w="6350">
            <a:solidFill>
              <a:srgbClr val="79B84D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502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79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·  V1.0  ·  PLANNING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9144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Catalyst CS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502920" y="16916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9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 Roadmap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02920" y="25603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strategy for transitioning from manual review to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data-driven, graduated automation — tested at every step.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611880"/>
            <a:ext cx="1828800" cy="1005840"/>
          </a:xfrm>
          <a:prstGeom prst="rect">
            <a:avLst/>
          </a:prstGeom>
          <a:solidFill>
            <a:srgbClr val="243F30"/>
          </a:solidFill>
          <a:ln w="12700">
            <a:solidFill>
              <a:srgbClr val="3A6B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703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9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02920" y="4187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14600" y="3611880"/>
            <a:ext cx="1828800" cy="1005840"/>
          </a:xfrm>
          <a:prstGeom prst="rect">
            <a:avLst/>
          </a:prstGeom>
          <a:solidFill>
            <a:srgbClr val="243F30"/>
          </a:solidFill>
          <a:ln w="12700">
            <a:solidFill>
              <a:srgbClr val="3A6B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3703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9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514600" y="4187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26280" y="3611880"/>
            <a:ext cx="1828800" cy="1005840"/>
          </a:xfrm>
          <a:prstGeom prst="rect">
            <a:avLst/>
          </a:prstGeom>
          <a:solidFill>
            <a:srgbClr val="243F30"/>
          </a:solidFill>
          <a:ln w="12700">
            <a:solidFill>
              <a:srgbClr val="3A6B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3703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9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526280" y="4187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Grad. threshold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37960" y="3611880"/>
            <a:ext cx="1828800" cy="1005840"/>
          </a:xfrm>
          <a:prstGeom prst="rect">
            <a:avLst/>
          </a:prstGeom>
          <a:solidFill>
            <a:srgbClr val="243F30"/>
          </a:solidFill>
          <a:ln w="12700">
            <a:solidFill>
              <a:srgbClr val="3A6B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3703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9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17h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537960" y="4187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coverage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4800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 Products  ·  cs@catalystcase.com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2B"/>
          </a:solidFill>
          <a:ln w="12700">
            <a:solidFill>
              <a:srgbClr val="1B3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9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3-run hourly cycle · 100% human-in-the-loop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554480" cy="1143000"/>
          </a:xfrm>
          <a:prstGeom prst="rect">
            <a:avLst/>
          </a:prstGeom>
          <a:solidFill>
            <a:srgbClr val="2A8A82"/>
          </a:solidFill>
          <a:ln w="12700">
            <a:solidFill>
              <a:srgbClr val="2A8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89280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&amp; labels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inbound email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901952" y="1897380"/>
            <a:ext cx="219456" cy="0"/>
          </a:xfrm>
          <a:prstGeom prst="line">
            <a:avLst/>
          </a:prstGeom>
          <a:noFill/>
          <a:ln w="19050">
            <a:solidFill>
              <a:srgbClr val="5A7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66544" y="17876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75688" y="1325880"/>
            <a:ext cx="1554480" cy="1143000"/>
          </a:xfrm>
          <a:prstGeom prst="rect">
            <a:avLst/>
          </a:prstGeom>
          <a:solidFill>
            <a:srgbClr val="2A8A82"/>
          </a:solidFill>
          <a:ln w="12700">
            <a:solidFill>
              <a:srgbClr val="2A8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75688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75688" y="189280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REVIEW_DRAFT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attended threads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0" y="1897380"/>
            <a:ext cx="219456" cy="0"/>
          </a:xfrm>
          <a:prstGeom prst="line">
            <a:avLst/>
          </a:prstGeom>
          <a:noFill/>
          <a:ln w="19050">
            <a:solidFill>
              <a:srgbClr val="5A7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22192" y="17876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31336" y="1325880"/>
            <a:ext cx="1554480" cy="1143000"/>
          </a:xfrm>
          <a:prstGeom prst="rect">
            <a:avLst/>
          </a:prstGeom>
          <a:solidFill>
            <a:srgbClr val="2A8A82"/>
          </a:solidFill>
          <a:ln w="12700">
            <a:solidFill>
              <a:srgbClr val="2A8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31336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31336" y="189280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order data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KB → Gmail draft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13248" y="1897380"/>
            <a:ext cx="219456" cy="0"/>
          </a:xfrm>
          <a:prstGeom prst="line">
            <a:avLst/>
          </a:prstGeom>
          <a:noFill/>
          <a:ln w="19050">
            <a:solidFill>
              <a:srgbClr val="5A7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17876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86984" y="1325880"/>
            <a:ext cx="1554480" cy="1143000"/>
          </a:xfrm>
          <a:prstGeom prst="rect">
            <a:avLst/>
          </a:prstGeom>
          <a:solidFill>
            <a:srgbClr val="E8E2D6"/>
          </a:solidFill>
          <a:ln w="12700">
            <a:solidFill>
              <a:srgbClr val="5A7060"/>
            </a:solidFill>
            <a:prstDash val="dash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86984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86984" y="189280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draft in Gmail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if needed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168896" y="1897380"/>
            <a:ext cx="219456" cy="0"/>
          </a:xfrm>
          <a:prstGeom prst="line">
            <a:avLst/>
          </a:prstGeom>
          <a:noFill/>
          <a:ln w="19050">
            <a:solidFill>
              <a:srgbClr val="5A70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33488" y="17876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42632" y="1325880"/>
            <a:ext cx="1554480" cy="1143000"/>
          </a:xfrm>
          <a:prstGeom prst="rect">
            <a:avLst/>
          </a:prstGeom>
          <a:solidFill>
            <a:srgbClr val="E8E2D6"/>
          </a:solidFill>
          <a:ln w="12700">
            <a:solidFill>
              <a:srgbClr val="5A7060"/>
            </a:solidFill>
            <a:prstDash val="dash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42632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42632" y="189280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send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auto-send yet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2788920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2788920"/>
            <a:ext cx="91440" cy="2011680"/>
          </a:xfrm>
          <a:prstGeom prst="rect">
            <a:avLst/>
          </a:prstGeom>
          <a:solidFill>
            <a:srgbClr val="79B84D"/>
          </a:solidFill>
          <a:ln w="12700">
            <a:solidFill>
              <a:srgbClr val="79B8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8986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well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320040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100% of inbound emails without human effort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B2B, spam &amp; automated senders before they reach CS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live Shopify order data + KB into every draft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6 am – 11 pm WAT, 7 days a week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2788920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2788920"/>
            <a:ext cx="91440" cy="2011680"/>
          </a:xfrm>
          <a:prstGeom prst="rect">
            <a:avLst/>
          </a:prstGeom>
          <a:solidFill>
            <a:srgbClr val="D4920F"/>
          </a:solidFill>
          <a:ln w="12700">
            <a:solidFill>
              <a:srgbClr val="D4920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8986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not yet do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92040" y="320040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whether drafts were edited or sent as-is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Auto-send any category of email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Amazon Seller Central messages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Python-hardened flows for deterministic replies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2B"/>
          </a:solidFill>
          <a:ln w="12700">
            <a:solidFill>
              <a:srgbClr val="1B3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9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9494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all phases — auto-send for graduated categories, HITL for the rest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417320" cy="822960"/>
          </a:xfrm>
          <a:prstGeom prst="rect">
            <a:avLst/>
          </a:prstGeom>
          <a:solidFill>
            <a:srgbClr val="2A8A82"/>
          </a:solidFill>
          <a:ln w="12700">
            <a:solidFill>
              <a:srgbClr val="2A8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344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WISMO labels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64792" y="1527048"/>
            <a:ext cx="155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01952" y="1234440"/>
            <a:ext cx="1417320" cy="822960"/>
          </a:xfrm>
          <a:prstGeom prst="rect">
            <a:avLst/>
          </a:prstGeom>
          <a:solidFill>
            <a:srgbClr val="2A8A82"/>
          </a:solidFill>
          <a:ln w="12700">
            <a:solidFill>
              <a:srgbClr val="2A8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01952" y="12344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46704" y="1527048"/>
            <a:ext cx="155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83864" y="1234440"/>
            <a:ext cx="1417320" cy="822960"/>
          </a:xfrm>
          <a:prstGeom prst="rect">
            <a:avLst/>
          </a:prstGeom>
          <a:solidFill>
            <a:srgbClr val="2A8A82"/>
          </a:solidFill>
          <a:ln w="12700">
            <a:solidFill>
              <a:srgbClr val="2A8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83864" y="12344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+ UUID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config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52704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914400"/>
            <a:ext cx="1417320" cy="731520"/>
          </a:xfrm>
          <a:prstGeom prst="rect">
            <a:avLst/>
          </a:prstGeom>
          <a:solidFill>
            <a:srgbClr val="4A7A2E"/>
          </a:solidFill>
          <a:ln w="12700">
            <a:solidFill>
              <a:srgbClr val="79B8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20640" y="91440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95% accurate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56248" y="1115568"/>
            <a:ext cx="228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9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84848" y="914400"/>
            <a:ext cx="2011680" cy="731520"/>
          </a:xfrm>
          <a:prstGeom prst="rect">
            <a:avLst/>
          </a:prstGeom>
          <a:solidFill>
            <a:srgbClr val="79B84D"/>
          </a:solidFill>
          <a:ln w="12700">
            <a:solidFill>
              <a:srgbClr val="79B8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84848" y="914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logs to BigQuery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20640" y="1810512"/>
            <a:ext cx="1417320" cy="749808"/>
          </a:xfrm>
          <a:prstGeom prst="rect">
            <a:avLst/>
          </a:prstGeom>
          <a:solidFill>
            <a:srgbClr val="E8E2D6"/>
          </a:solidFill>
          <a:ln w="12700">
            <a:solidFill>
              <a:srgbClr val="5A7060"/>
            </a:solidFill>
            <a:prstDash val="dash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20640" y="1810512"/>
            <a:ext cx="1417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GRADUATED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REVIEW_DRAFT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56248" y="2029968"/>
            <a:ext cx="228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784848" y="1810512"/>
            <a:ext cx="2011680" cy="749808"/>
          </a:xfrm>
          <a:prstGeom prst="rect">
            <a:avLst/>
          </a:prstGeom>
          <a:solidFill>
            <a:srgbClr val="E8E2D6"/>
          </a:solidFill>
          <a:ln w="12700">
            <a:solidFill>
              <a:srgbClr val="5A7060"/>
            </a:solidFill>
            <a:prstDash val="dash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84848" y="1810512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clicks Send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834640"/>
            <a:ext cx="8503920" cy="804672"/>
          </a:xfrm>
          <a:prstGeom prst="rect">
            <a:avLst/>
          </a:prstGeom>
          <a:solidFill>
            <a:srgbClr val="2A1F4E"/>
          </a:solidFill>
          <a:ln w="12700">
            <a:solidFill>
              <a:srgbClr val="4A3A8E"/>
            </a:solidFill>
            <a:prstDash val="dash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29077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7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Thread-Tracer  ·  background worker every 30 min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3200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7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Gmail Sent for UUID  →  compares draft vs. sent (Levenshtein)  →  calculates accuracy score  →  logs to BigQuery  →  updates graduation status per category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822192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822192"/>
            <a:ext cx="91440" cy="1051560"/>
          </a:xfrm>
          <a:prstGeom prst="rect">
            <a:avLst/>
          </a:prstGeom>
          <a:solidFill>
            <a:srgbClr val="79B84D"/>
          </a:solidFill>
          <a:ln w="12700">
            <a:solidFill>
              <a:srgbClr val="79B8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8953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categories graduate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169664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Thread-Tracer silently measures accuracy for every draft sent by humans. Once a category reaches ≥ 95%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or MINOR_EDIT results across 100+ emails, the config toggle flips — and that category auto-sends.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760720" y="398678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79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change to the CS agent's daily workflow during measurement.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60720" y="444398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proves itself before anything auto-sends.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43F30"/>
          </a:solidFill>
          <a:ln w="12700">
            <a:solidFill>
              <a:srgbClr val="243F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9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OVERVIEW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627632" cy="4023360"/>
          </a:xfrm>
          <a:prstGeom prst="rect">
            <a:avLst/>
          </a:prstGeom>
          <a:solidFill>
            <a:srgbClr val="243F30"/>
          </a:solidFill>
          <a:ln w="12700">
            <a:solidFill>
              <a:srgbClr val="2E4A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1627632" cy="64008"/>
          </a:xfrm>
          <a:prstGeom prst="rect">
            <a:avLst/>
          </a:prstGeom>
          <a:solidFill>
            <a:srgbClr val="79B84D"/>
          </a:solidFill>
          <a:ln w="12700">
            <a:solidFill>
              <a:srgbClr val="79B8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60120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E8E"/>
                </a:solidFill>
                <a:latin typeface="Calibri Bold Italic" pitchFamily="34" charset="0"/>
                <a:ea typeface="Calibri Bold Italic" pitchFamily="34" charset="-122"/>
                <a:cs typeface="Calibri Bold Italic" pitchFamily="34" charset="-120"/>
              </a:rPr>
              <a:t>Phase 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" y="1170432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9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1389888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99339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9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CLI · GCP · BigQuery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2304288"/>
            <a:ext cx="1408176" cy="0"/>
          </a:xfrm>
          <a:prstGeom prst="line">
            <a:avLst/>
          </a:prstGeom>
          <a:noFill/>
          <a:ln w="9525">
            <a:solidFill>
              <a:srgbClr val="2E4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414016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1a — Shopify CLI on WSL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2862072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1b — GCP project + billing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3310128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1b — BigQuery dataset setup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3758184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1b — draft_log + accuracy_log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4206240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1b — BigQuery MCP config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979676" y="822960"/>
            <a:ext cx="1627632" cy="4023360"/>
          </a:xfrm>
          <a:prstGeom prst="rect">
            <a:avLst/>
          </a:prstGeom>
          <a:solidFill>
            <a:srgbClr val="243F30"/>
          </a:solidFill>
          <a:ln w="12700">
            <a:solidFill>
              <a:srgbClr val="2E4A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79676" y="822960"/>
            <a:ext cx="1627632" cy="64008"/>
          </a:xfrm>
          <a:prstGeom prst="rect">
            <a:avLst/>
          </a:prstGeom>
          <a:solidFill>
            <a:srgbClr val="D4920F"/>
          </a:solidFill>
          <a:ln w="12700">
            <a:solidFill>
              <a:srgbClr val="D4920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89404" y="960120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E8E"/>
                </a:solidFill>
                <a:latin typeface="Calibri Bold Italic" pitchFamily="34" charset="0"/>
                <a:ea typeface="Calibri Bold Italic" pitchFamily="34" charset="-122"/>
                <a:cs typeface="Calibri Bold Italic" pitchFamily="34" charset="-120"/>
              </a:rPr>
              <a:t>Phase 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89404" y="1170432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P1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089404" y="1389888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WISMO + Hardened Flows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089404" y="199339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9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Shopify AdminAPI · Temp 0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089404" y="2304288"/>
            <a:ext cx="1408176" cy="0"/>
          </a:xfrm>
          <a:prstGeom prst="line">
            <a:avLst/>
          </a:prstGeom>
          <a:noFill/>
          <a:ln w="9525">
            <a:solidFill>
              <a:srgbClr val="2E4A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89404" y="2414016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2a — WISMO triage labels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089404" y="2862072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2b — Python tracking script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089404" y="3310128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2c — Draft flow integration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089404" y="3758184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2d — Stuck order escalation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85032" y="822960"/>
            <a:ext cx="1627632" cy="4023360"/>
          </a:xfrm>
          <a:prstGeom prst="rect">
            <a:avLst/>
          </a:prstGeom>
          <a:solidFill>
            <a:srgbClr val="243F30"/>
          </a:solidFill>
          <a:ln w="12700">
            <a:solidFill>
              <a:srgbClr val="2E4A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85032" y="822960"/>
            <a:ext cx="1627632" cy="64008"/>
          </a:xfrm>
          <a:prstGeom prst="rect">
            <a:avLst/>
          </a:prstGeom>
          <a:solidFill>
            <a:srgbClr val="D4920F"/>
          </a:solidFill>
          <a:ln w="12700">
            <a:solidFill>
              <a:srgbClr val="D4920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94760" y="960120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E8E"/>
                </a:solidFill>
                <a:latin typeface="Calibri Bold Italic" pitchFamily="34" charset="0"/>
                <a:ea typeface="Calibri Bold Italic" pitchFamily="34" charset="-122"/>
                <a:cs typeface="Calibri Bold Italic" pitchFamily="34" charset="-120"/>
              </a:rPr>
              <a:t>Phase 03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94760" y="1170432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P1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794760" y="1389888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Thread-Tracer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94760" y="199339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9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BigQuery · Levenshtein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794760" y="2304288"/>
            <a:ext cx="1408176" cy="0"/>
          </a:xfrm>
          <a:prstGeom prst="line">
            <a:avLst/>
          </a:prstGeom>
          <a:noFill/>
          <a:ln w="9525">
            <a:solidFill>
              <a:srgbClr val="2E4A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94760" y="2414016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3a — UUID injection in drafts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794760" y="2862072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3b — Direct BigQuery staging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794760" y="3310128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3c — Reconciler (30 min)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794760" y="3758184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3d — Accuracy dashboard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390388" y="822960"/>
            <a:ext cx="1627632" cy="4023360"/>
          </a:xfrm>
          <a:prstGeom prst="rect">
            <a:avLst/>
          </a:prstGeom>
          <a:solidFill>
            <a:srgbClr val="243F30"/>
          </a:solidFill>
          <a:ln w="12700">
            <a:solidFill>
              <a:srgbClr val="2E4A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90388" y="822960"/>
            <a:ext cx="1627632" cy="64008"/>
          </a:xfrm>
          <a:prstGeom prst="rect">
            <a:avLst/>
          </a:prstGeom>
          <a:solidFill>
            <a:srgbClr val="D4920F"/>
          </a:solidFill>
          <a:ln w="12700">
            <a:solidFill>
              <a:srgbClr val="D4920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00116" y="960120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E8E"/>
                </a:solidFill>
                <a:latin typeface="Calibri Bold Italic" pitchFamily="34" charset="0"/>
                <a:ea typeface="Calibri Bold Italic" pitchFamily="34" charset="-122"/>
                <a:cs typeface="Calibri Bold Italic" pitchFamily="34" charset="-120"/>
              </a:rPr>
              <a:t>Phase 04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00116" y="1170432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500116" y="1389888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Logic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500116" y="199339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9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queries · config toggle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500116" y="2304288"/>
            <a:ext cx="1408176" cy="0"/>
          </a:xfrm>
          <a:prstGeom prst="line">
            <a:avLst/>
          </a:prstGeom>
          <a:noFill/>
          <a:ln w="9525">
            <a:solidFill>
              <a:srgbClr val="2E4A3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00116" y="2414016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4a — Graduation query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500116" y="2862072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4b — Config toggle per category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500116" y="3310128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4c — Exception handling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500116" y="3758184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4d — Monday accuracy report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095744" y="822960"/>
            <a:ext cx="1627632" cy="4023360"/>
          </a:xfrm>
          <a:prstGeom prst="rect">
            <a:avLst/>
          </a:prstGeom>
          <a:solidFill>
            <a:srgbClr val="243F30"/>
          </a:solidFill>
          <a:ln w="12700">
            <a:solidFill>
              <a:srgbClr val="2E4A3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095744" y="822960"/>
            <a:ext cx="1627632" cy="64008"/>
          </a:xfrm>
          <a:prstGeom prst="rect">
            <a:avLst/>
          </a:prstGeom>
          <a:solidFill>
            <a:srgbClr val="B84040"/>
          </a:solidFill>
          <a:ln w="12700">
            <a:solidFill>
              <a:srgbClr val="B8404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05472" y="960120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E8E"/>
                </a:solidFill>
                <a:latin typeface="Calibri Bold Italic" pitchFamily="34" charset="0"/>
                <a:ea typeface="Calibri Bold Italic" pitchFamily="34" charset="-122"/>
                <a:cs typeface="Calibri Bold Italic" pitchFamily="34" charset="-120"/>
              </a:rPr>
              <a:t>Phase 05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205472" y="1170432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Blocked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205472" y="1389888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Connector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205472" y="199339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SP-API · webhooks · Python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205472" y="2304288"/>
            <a:ext cx="1408176" cy="0"/>
          </a:xfrm>
          <a:prstGeom prst="line">
            <a:avLst/>
          </a:prstGeom>
          <a:noFill/>
          <a:ln w="9525">
            <a:solidFill>
              <a:srgbClr val="2E4A3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05472" y="2414016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5a — SP-API webhook endpoint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205472" y="2862072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5b — Connector script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205472" y="3310128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5c — Pending Approval queue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205472" y="3758184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5d-f — Approve + HMAC + BigQuery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2B"/>
          </a:solidFill>
          <a:ln w="12700">
            <a:solidFill>
              <a:srgbClr val="1B3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9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  ·  WISMO + HARDENED FLOWS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auto-reply pilot — Python replaces LLM for deterministic order tracking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1920240" cy="73152"/>
          </a:xfrm>
          <a:prstGeom prst="rect">
            <a:avLst/>
          </a:prstGeom>
          <a:solidFill>
            <a:srgbClr val="D4920F"/>
          </a:solidFill>
          <a:ln w="12700">
            <a:solidFill>
              <a:srgbClr val="D4920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984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9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29768" y="1481328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WISMO Label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810512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triage labels: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CATALYST_US_WISMO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CATALYST_LIFESTYLE_WISMO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04288" y="1874520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23444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234440"/>
            <a:ext cx="1920240" cy="73152"/>
          </a:xfrm>
          <a:prstGeom prst="rect">
            <a:avLst/>
          </a:prstGeom>
          <a:solidFill>
            <a:srgbClr val="D4920F"/>
          </a:solidFill>
          <a:ln w="12700">
            <a:solidFill>
              <a:srgbClr val="D492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12984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9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78608" y="1481328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78608" y="1810512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tracking from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AdminAPI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0 template output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53128" y="1874520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123444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234440"/>
            <a:ext cx="1920240" cy="73152"/>
          </a:xfrm>
          <a:prstGeom prst="rect">
            <a:avLst/>
          </a:prstGeom>
          <a:solidFill>
            <a:srgbClr val="D4920F"/>
          </a:solidFill>
          <a:ln w="12700">
            <a:solidFill>
              <a:srgbClr val="D492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7448" y="12984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9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27448" y="1481328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Integration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27448" y="1810512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WISMO → Python path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LLM KB lookup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draft created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601968" y="1874520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66560" y="123444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1234440"/>
            <a:ext cx="1920240" cy="73152"/>
          </a:xfrm>
          <a:prstGeom prst="rect">
            <a:avLst/>
          </a:prstGeom>
          <a:solidFill>
            <a:srgbClr val="D4920F"/>
          </a:solidFill>
          <a:ln w="12700">
            <a:solidFill>
              <a:srgbClr val="D4920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76288" y="12984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9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76288" y="1481328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Order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76288" y="1810512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Unfulfilled 3+ days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ESCALATION_NEEDED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auto-draft fires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063240"/>
            <a:ext cx="8503920" cy="804672"/>
          </a:xfrm>
          <a:prstGeom prst="rect">
            <a:avLst/>
          </a:prstGeom>
          <a:solidFill>
            <a:srgbClr val="1B3A2B"/>
          </a:solidFill>
          <a:ln w="12700">
            <a:solidFill>
              <a:srgbClr val="3A6B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312724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9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WISMO template output (Temp 0 — no LLM)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order [#XXXX] was shipped via [Carrier] on [Date] and is currently [Status]. You can track it here: [Link]."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4041648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4041648"/>
            <a:ext cx="91440" cy="868680"/>
          </a:xfrm>
          <a:prstGeom prst="rect">
            <a:avLst/>
          </a:prstGeom>
          <a:solidFill>
            <a:srgbClr val="2A8A82"/>
          </a:solidFill>
          <a:ln w="12700">
            <a:solidFill>
              <a:srgbClr val="2A8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1513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 by auto-send only after Phase 4 graduation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442569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Phase 2 it still creates a REVIEW_DRAFT for humans. Auto-send only kicks in once the accuracy counter (Phase 3) proves the category ready.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4041648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4041648"/>
            <a:ext cx="91440" cy="868680"/>
          </a:xfrm>
          <a:prstGeom prst="rect">
            <a:avLst/>
          </a:prstGeom>
          <a:solidFill>
            <a:srgbClr val="D4920F"/>
          </a:solidFill>
          <a:ln w="12700">
            <a:solidFill>
              <a:srgbClr val="D4920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41513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WISMO is candidate #1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92040" y="442569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most deterministic category — a Python script fetches the tracking link directly from Shopify with no AI guesswork, making hallucination risk near-zero.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230"/>
          </a:solidFill>
          <a:ln w="12700">
            <a:solidFill>
              <a:srgbClr val="1A12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07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  ·  THREAD-TRACER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auditor — zero friction for CS agents. Tracks every draft vs. what was actually sent.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384048" cy="384048"/>
          </a:xfrm>
          <a:prstGeom prst="ellipse">
            <a:avLst/>
          </a:prstGeom>
          <a:solidFill>
            <a:srgbClr val="2A1F4E"/>
          </a:solidFill>
          <a:ln w="12700">
            <a:solidFill>
              <a:srgbClr val="7B6F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7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7492" y="1591056"/>
            <a:ext cx="0" cy="283464"/>
          </a:xfrm>
          <a:prstGeom prst="line">
            <a:avLst/>
          </a:prstGeom>
          <a:noFill/>
          <a:ln w="12700">
            <a:solidFill>
              <a:srgbClr val="7B6FBA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68680" y="12252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injected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4447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appends hidden [ref:UUID] to every draft before creating it in Gmail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874520"/>
            <a:ext cx="384048" cy="384048"/>
          </a:xfrm>
          <a:prstGeom prst="ellipse">
            <a:avLst/>
          </a:prstGeom>
          <a:solidFill>
            <a:srgbClr val="2A1F4E"/>
          </a:solidFill>
          <a:ln w="12700">
            <a:solidFill>
              <a:srgbClr val="7B6F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7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7492" y="2258568"/>
            <a:ext cx="0" cy="283464"/>
          </a:xfrm>
          <a:prstGeom prst="line">
            <a:avLst/>
          </a:prstGeom>
          <a:noFill/>
          <a:ln w="12700">
            <a:solidFill>
              <a:srgbClr val="7B6FBA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868680" y="18928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to BigQuery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1122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+ draft text + metadata written directly to draft_log at creation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542032"/>
            <a:ext cx="384048" cy="384048"/>
          </a:xfrm>
          <a:prstGeom prst="ellipse">
            <a:avLst/>
          </a:prstGeom>
          <a:solidFill>
            <a:srgbClr val="2A1F4E"/>
          </a:solidFill>
          <a:ln w="12700">
            <a:solidFill>
              <a:srgbClr val="7B6F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7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7492" y="2926080"/>
            <a:ext cx="0" cy="283464"/>
          </a:xfrm>
          <a:prstGeom prst="line">
            <a:avLst/>
          </a:prstGeom>
          <a:noFill/>
          <a:ln w="12700">
            <a:solidFill>
              <a:srgbClr val="7B6FBA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868680" y="2560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sends (unchanged)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7797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agent reviews in Gmail, edits if needed, clicks Send — no new steps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209544"/>
            <a:ext cx="384048" cy="384048"/>
          </a:xfrm>
          <a:prstGeom prst="ellipse">
            <a:avLst/>
          </a:prstGeom>
          <a:solidFill>
            <a:srgbClr val="2A1F4E"/>
          </a:solidFill>
          <a:ln w="12700">
            <a:solidFill>
              <a:srgbClr val="7B6F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7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7492" y="3593592"/>
            <a:ext cx="0" cy="283464"/>
          </a:xfrm>
          <a:prstGeom prst="line">
            <a:avLst/>
          </a:prstGeom>
          <a:noFill/>
          <a:ln w="12700">
            <a:solidFill>
              <a:srgbClr val="7B6FBA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868680" y="32278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Reconciler runs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34472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30 min, searches Gmail Sent for emails containing a UUID, pulls final text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877056"/>
            <a:ext cx="384048" cy="384048"/>
          </a:xfrm>
          <a:prstGeom prst="ellipse">
            <a:avLst/>
          </a:prstGeom>
          <a:solidFill>
            <a:srgbClr val="2A1F4E"/>
          </a:solidFill>
          <a:ln w="12700">
            <a:solidFill>
              <a:srgbClr val="7B6FB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7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38953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calculated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4114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Levenshtein distance computed, accuracy score logged to accuracy_log in BigQuery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37760" y="11704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result thresholds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1463040"/>
            <a:ext cx="3886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1463040"/>
            <a:ext cx="73152" cy="475488"/>
          </a:xfrm>
          <a:prstGeom prst="rect">
            <a:avLst/>
          </a:prstGeom>
          <a:solidFill>
            <a:srgbClr val="79B84D"/>
          </a:solidFill>
          <a:ln w="12700">
            <a:solidFill>
              <a:srgbClr val="79B8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02352" y="14904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02352" y="17099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edit_distance = 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37760" y="2029968"/>
            <a:ext cx="3886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37760" y="2029968"/>
            <a:ext cx="73152" cy="475488"/>
          </a:xfrm>
          <a:prstGeom prst="rect">
            <a:avLst/>
          </a:prstGeom>
          <a:solidFill>
            <a:srgbClr val="2A8A82"/>
          </a:solidFill>
          <a:ln w="12700">
            <a:solidFill>
              <a:srgbClr val="2A8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02352" y="20574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MINOR_EDIT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02352" y="22768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edit_pct &lt; 5%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937760" y="2596896"/>
            <a:ext cx="3886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937760" y="2596896"/>
            <a:ext cx="73152" cy="475488"/>
          </a:xfrm>
          <a:prstGeom prst="rect">
            <a:avLst/>
          </a:prstGeom>
          <a:solidFill>
            <a:srgbClr val="D4920F"/>
          </a:solidFill>
          <a:ln w="12700">
            <a:solidFill>
              <a:srgbClr val="D4920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02352" y="26243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9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MAJOR_EDIT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02352" y="28437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edit_pct 5–50%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937760" y="3163824"/>
            <a:ext cx="3886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937760" y="3163824"/>
            <a:ext cx="73152" cy="475488"/>
          </a:xfrm>
          <a:prstGeom prst="rect">
            <a:avLst/>
          </a:prstGeom>
          <a:solidFill>
            <a:srgbClr val="B84040"/>
          </a:solidFill>
          <a:ln w="12700">
            <a:solidFill>
              <a:srgbClr val="B840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02352" y="31912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02352" y="34107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edit_pct &gt; 50%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937760" y="3767328"/>
            <a:ext cx="3886200" cy="1097280"/>
          </a:xfrm>
          <a:prstGeom prst="rect">
            <a:avLst/>
          </a:prstGeom>
          <a:solidFill>
            <a:srgbClr val="E8F4DC"/>
          </a:solidFill>
          <a:ln w="12700">
            <a:solidFill>
              <a:srgbClr val="79B8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937760" y="3767328"/>
            <a:ext cx="73152" cy="1097280"/>
          </a:xfrm>
          <a:prstGeom prst="rect">
            <a:avLst/>
          </a:prstGeom>
          <a:solidFill>
            <a:srgbClr val="79B84D"/>
          </a:solidFill>
          <a:ln w="12700">
            <a:solidFill>
              <a:srgbClr val="79B84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02352" y="3840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threshold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102352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4A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95% PERFECT or MINOR_EDIT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4A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over 100+ emails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102352" y="4572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then graduates to auto-send (Phase 4)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2B"/>
          </a:solidFill>
          <a:ln w="12700">
            <a:solidFill>
              <a:srgbClr val="1B3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9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AUTO-REPLY GRADUATION CANDIDATES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predictability — any category can graduate once it proves itself through the accuracy counter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57200" cy="320040"/>
          </a:xfrm>
          <a:prstGeom prst="rect">
            <a:avLst/>
          </a:prstGeom>
          <a:solidFill>
            <a:srgbClr val="1B3A2B"/>
          </a:solidFill>
          <a:ln w="12700">
            <a:solidFill>
              <a:srgbClr val="1B3A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188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9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188720"/>
            <a:ext cx="2423160" cy="320040"/>
          </a:xfrm>
          <a:prstGeom prst="rect">
            <a:avLst/>
          </a:prstGeom>
          <a:solidFill>
            <a:srgbClr val="1B3A2B"/>
          </a:solidFill>
          <a:ln w="12700">
            <a:solidFill>
              <a:srgbClr val="1B3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188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9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3108960" cy="320040"/>
          </a:xfrm>
          <a:prstGeom prst="rect">
            <a:avLst/>
          </a:prstGeom>
          <a:solidFill>
            <a:srgbClr val="1B3A2B"/>
          </a:solidFill>
          <a:ln w="12700">
            <a:solidFill>
              <a:srgbClr val="1B3A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73552" y="1188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9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a candidate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2423160" cy="320040"/>
          </a:xfrm>
          <a:prstGeom prst="rect">
            <a:avLst/>
          </a:prstGeom>
          <a:solidFill>
            <a:srgbClr val="1B3A2B"/>
          </a:solidFill>
          <a:ln w="12700">
            <a:solidFill>
              <a:srgbClr val="1B3A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188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9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508760"/>
            <a:ext cx="8503920" cy="475488"/>
          </a:xfrm>
          <a:prstGeom prst="rect">
            <a:avLst/>
          </a:prstGeom>
          <a:solidFill>
            <a:srgbClr val="E8F4DC"/>
          </a:solidFill>
          <a:ln w="12700">
            <a:solidFill>
              <a:srgbClr val="79B8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508760"/>
            <a:ext cx="73152" cy="475488"/>
          </a:xfrm>
          <a:prstGeom prst="rect">
            <a:avLst/>
          </a:prstGeom>
          <a:solidFill>
            <a:srgbClr val="79B84D"/>
          </a:solidFill>
          <a:ln w="12700">
            <a:solidFill>
              <a:srgbClr val="79B8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" y="151790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" y="1554480"/>
            <a:ext cx="2350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WISMO (order tracking)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73552" y="1554480"/>
            <a:ext cx="3035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fetch + fixed template = near-zero hallucination risk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82512" y="1554480"/>
            <a:ext cx="2350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Stuck/unfulfilled orders need human escalation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011680"/>
            <a:ext cx="8503920" cy="475488"/>
          </a:xfrm>
          <a:prstGeom prst="rect">
            <a:avLst/>
          </a:prstGeom>
          <a:solidFill>
            <a:srgbClr val="F4F0E6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" y="202082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0392" y="2057400"/>
            <a:ext cx="2350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(general)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73552" y="2057400"/>
            <a:ext cx="3035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query, consistent answer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82512" y="2057400"/>
            <a:ext cx="2350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require carrier investigation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514600"/>
            <a:ext cx="8503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" y="25237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0392" y="2560320"/>
            <a:ext cx="2350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Modification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73552" y="2560320"/>
            <a:ext cx="3035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Cancel/modify has clear Shopify outcomes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82512" y="2560320"/>
            <a:ext cx="2350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cases: partially shipped orders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017520"/>
            <a:ext cx="8503920" cy="475488"/>
          </a:xfrm>
          <a:prstGeom prst="rect">
            <a:avLst/>
          </a:prstGeom>
          <a:solidFill>
            <a:srgbClr val="F4F0E6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" y="302666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0392" y="3063240"/>
            <a:ext cx="2350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Processing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73552" y="3063240"/>
            <a:ext cx="3035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label generation is procedural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82512" y="3063240"/>
            <a:ext cx="2350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exceptions exist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520440"/>
            <a:ext cx="8503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" y="352958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0392" y="3566160"/>
            <a:ext cx="2350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(acknowledgment)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73552" y="3566160"/>
            <a:ext cx="3035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receipt confirmation is formulaic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82512" y="3566160"/>
            <a:ext cx="2350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decisions always need human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4023360"/>
            <a:ext cx="8503920" cy="475488"/>
          </a:xfrm>
          <a:prstGeom prst="rect">
            <a:avLst/>
          </a:prstGeom>
          <a:solidFill>
            <a:srgbClr val="F4F0E6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4904" y="403250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50392" y="4069080"/>
            <a:ext cx="2350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Compatibility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273552" y="4069080"/>
            <a:ext cx="3035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specs are static KB data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382512" y="4069080"/>
            <a:ext cx="2350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device releases create edge cases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0040" y="461772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graduation system is category-agnostic. WISMO is first because it is the most deterministic — not because others can't graduate.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A1515"/>
          </a:solidFill>
          <a:ln w="12700">
            <a:solidFill>
              <a:srgbClr val="3A15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05  ·  AMAZON CONNECTOR  ·  ⚠ BLOCKED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SP-API credentials before any build work can begin — compliance note: full auto-send is not permitted by Amazon TOS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43584"/>
            <a:ext cx="347472" cy="347472"/>
          </a:xfrm>
          <a:prstGeom prst="ellipse">
            <a:avLst/>
          </a:prstGeom>
          <a:solidFill>
            <a:srgbClr val="FDEAEA"/>
          </a:solidFill>
          <a:ln w="12700">
            <a:solidFill>
              <a:srgbClr val="B84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43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93776" y="1591056"/>
            <a:ext cx="0" cy="237744"/>
          </a:xfrm>
          <a:prstGeom prst="line">
            <a:avLst/>
          </a:prstGeom>
          <a:noFill/>
          <a:ln w="12700">
            <a:solidFill>
              <a:srgbClr val="E8E2D6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04672" y="124358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SP-API notification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14721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B2B_ANY_MESSAGE_CHANGED event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HMAC-validated webhook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347472" cy="347472"/>
          </a:xfrm>
          <a:prstGeom prst="ellipse">
            <a:avLst/>
          </a:prstGeom>
          <a:solidFill>
            <a:srgbClr val="FDEAEA"/>
          </a:solidFill>
          <a:ln w="12700">
            <a:solidFill>
              <a:srgbClr val="B84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" y="2176272"/>
            <a:ext cx="0" cy="237744"/>
          </a:xfrm>
          <a:prstGeom prst="line">
            <a:avLst/>
          </a:prstGeom>
          <a:noFill/>
          <a:ln w="12700">
            <a:solidFill>
              <a:srgbClr val="E8E2D6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804672" y="18288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fetches order data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2057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AdminAPI lookup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414016"/>
            <a:ext cx="347472" cy="347472"/>
          </a:xfrm>
          <a:prstGeom prst="ellipse">
            <a:avLst/>
          </a:prstGeom>
          <a:solidFill>
            <a:srgbClr val="FDEAEA"/>
          </a:solidFill>
          <a:ln w="12700">
            <a:solidFill>
              <a:srgbClr val="B84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414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" y="2761488"/>
            <a:ext cx="0" cy="237744"/>
          </a:xfrm>
          <a:prstGeom prst="line">
            <a:avLst/>
          </a:prstGeom>
          <a:noFill/>
          <a:ln w="12700">
            <a:solidFill>
              <a:srgbClr val="E8E2D6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804672" y="24140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drafts reply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2642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KB + accuracy logic as Gmail pipeline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999232"/>
            <a:ext cx="347472" cy="347472"/>
          </a:xfrm>
          <a:prstGeom prst="ellipse">
            <a:avLst/>
          </a:prstGeom>
          <a:solidFill>
            <a:srgbClr val="FDF3DC"/>
          </a:solidFill>
          <a:ln w="12700">
            <a:solidFill>
              <a:srgbClr val="D4920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9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" y="3346704"/>
            <a:ext cx="0" cy="237744"/>
          </a:xfrm>
          <a:prstGeom prst="line">
            <a:avLst/>
          </a:prstGeom>
          <a:noFill/>
          <a:ln w="12700">
            <a:solidFill>
              <a:srgbClr val="E8E2D6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804672" y="299923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Approval queue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" y="3227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from Gmail REVIEW_DRAFT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584448"/>
            <a:ext cx="347472" cy="347472"/>
          </a:xfrm>
          <a:prstGeom prst="ellipse">
            <a:avLst/>
          </a:prstGeom>
          <a:solidFill>
            <a:srgbClr val="FDF3DC"/>
          </a:solidFill>
          <a:ln w="12700">
            <a:solidFill>
              <a:srgbClr val="D4920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584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9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" y="3931920"/>
            <a:ext cx="0" cy="237744"/>
          </a:xfrm>
          <a:prstGeom prst="line">
            <a:avLst/>
          </a:prstGeom>
          <a:noFill/>
          <a:ln w="12700">
            <a:solidFill>
              <a:srgbClr val="E8E2D6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804672" y="35844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clicks Approve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" y="3813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required per Amazon TOS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4169664"/>
            <a:ext cx="347472" cy="347472"/>
          </a:xfrm>
          <a:prstGeom prst="ellipse">
            <a:avLst/>
          </a:prstGeom>
          <a:solidFill>
            <a:srgbClr val="E0F2F0"/>
          </a:solidFill>
          <a:ln w="12700">
            <a:solidFill>
              <a:srgbClr val="2A8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169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4672" y="4169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SP-API sends message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4672" y="4398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SLA satisfied · accuracy counter logs result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1188720"/>
            <a:ext cx="4069080" cy="1920240"/>
          </a:xfrm>
          <a:prstGeom prst="rect">
            <a:avLst/>
          </a:prstGeom>
          <a:solidFill>
            <a:srgbClr val="FDE8E8"/>
          </a:solidFill>
          <a:ln w="12700">
            <a:solidFill>
              <a:srgbClr val="B84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1188720"/>
            <a:ext cx="91440" cy="1920240"/>
          </a:xfrm>
          <a:prstGeom prst="rect">
            <a:avLst/>
          </a:prstGeom>
          <a:solidFill>
            <a:srgbClr val="B84040"/>
          </a:solidFill>
          <a:ln w="12700">
            <a:solidFill>
              <a:srgbClr val="B840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 (action required)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56048" y="157276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Amazon Developer registration (US, CA, UK)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56048" y="185623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SP-API Client ID per marketplace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56048" y="213969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SP-API Client Secret per marketplace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956048" y="242316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SP-API Refresh Token per marketplace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56048" y="270662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Confirm message types: Buyer-Seller, A-to-Z, or both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3246120"/>
            <a:ext cx="4069080" cy="1572768"/>
          </a:xfrm>
          <a:prstGeom prst="rect">
            <a:avLst/>
          </a:prstGeom>
          <a:solidFill>
            <a:srgbClr val="FDF3DC"/>
          </a:solidFill>
          <a:ln w="12700">
            <a:solidFill>
              <a:srgbClr val="D4920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3246120"/>
            <a:ext cx="91440" cy="1572768"/>
          </a:xfrm>
          <a:prstGeom prst="rect">
            <a:avLst/>
          </a:prstGeom>
          <a:solidFill>
            <a:srgbClr val="D4920F"/>
          </a:solidFill>
          <a:ln w="12700">
            <a:solidFill>
              <a:srgbClr val="D4920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56048" y="33375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9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TOS compliance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56048" y="3611880"/>
            <a:ext cx="37490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TOS does not count automated replies toward the 24-hour response time requirement. Full auto-send is NOT permitted.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is always required — but this architecture eliminates ~90% of manual writing effort while remaining fully compliant.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2B"/>
          </a:solidFill>
          <a:ln w="12700">
            <a:solidFill>
              <a:srgbClr val="1B3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9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SCHEMA  ·  PHASE 01 DELIVERABLE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catalyst_cs_accuracy  ·  Two tables power all accuracy tracking and graduation logic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365760"/>
          </a:xfrm>
          <a:prstGeom prst="rect">
            <a:avLst/>
          </a:prstGeom>
          <a:solidFill>
            <a:srgbClr val="1B3A2B"/>
          </a:solidFill>
          <a:ln w="12700">
            <a:solidFill>
              <a:srgbClr val="1B3A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1704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9B84D"/>
                </a:solidFill>
                <a:latin typeface="Calibri Italic" pitchFamily="34" charset="0"/>
                <a:ea typeface="Calibri Italic" pitchFamily="34" charset="-122"/>
                <a:cs typeface="Calibri Italic" pitchFamily="34" charset="-120"/>
              </a:rPr>
              <a:t>draft_log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80360" y="11704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draft created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536192"/>
            <a:ext cx="4160520" cy="292608"/>
          </a:xfrm>
          <a:prstGeom prst="rect">
            <a:avLst/>
          </a:prstGeom>
          <a:solidFill>
            <a:srgbClr val="243F30"/>
          </a:solidFill>
          <a:ln w="12700">
            <a:solidFill>
              <a:srgbClr val="243F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361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9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874520" y="153619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9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697480" y="153619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9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1828800"/>
            <a:ext cx="4160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828800"/>
            <a:ext cx="54864" cy="438912"/>
          </a:xfrm>
          <a:prstGeom prst="rect">
            <a:avLst/>
          </a:prstGeom>
          <a:solidFill>
            <a:srgbClr val="79B84D"/>
          </a:solidFill>
          <a:ln w="12700">
            <a:solidFill>
              <a:srgbClr val="79B8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draft_id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74520" y="1874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15768" y="1874520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· unique UUID per draft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267712"/>
            <a:ext cx="4160520" cy="438912"/>
          </a:xfrm>
          <a:prstGeom prst="rect">
            <a:avLst/>
          </a:prstGeom>
          <a:solidFill>
            <a:srgbClr val="F4F0E6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23134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74520" y="23134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15768" y="2313432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draft was created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2706624"/>
            <a:ext cx="4160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27523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email_category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874520" y="275234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15768" y="2752344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CATALYST_US_WISMO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3145536"/>
            <a:ext cx="4160520" cy="438912"/>
          </a:xfrm>
          <a:prstGeom prst="rect">
            <a:avLst/>
          </a:prstGeom>
          <a:solidFill>
            <a:srgbClr val="F4F0E6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31912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sender_email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874520" y="319125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715768" y="3191256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email address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584448"/>
            <a:ext cx="4160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" y="36301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claude_draft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874520" y="363016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715768" y="3630168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text of original draft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4023360"/>
            <a:ext cx="4160520" cy="438912"/>
          </a:xfrm>
          <a:prstGeom prst="rect">
            <a:avLst/>
          </a:prstGeom>
          <a:solidFill>
            <a:srgbClr val="F4F0E6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" y="4069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shopify_order_id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874520" y="4069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715768" y="4069080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number if applicable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4462272"/>
            <a:ext cx="4160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" y="45079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874520" y="45079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715768" y="4507992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"catalystcase" or "catalystlifestyle"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63440" y="1170432"/>
            <a:ext cx="4160520" cy="365760"/>
          </a:xfrm>
          <a:prstGeom prst="rect">
            <a:avLst/>
          </a:prstGeom>
          <a:solidFill>
            <a:srgbClr val="1B3A2B"/>
          </a:solidFill>
          <a:ln w="12700">
            <a:solidFill>
              <a:srgbClr val="1B3A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11704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9B84D"/>
                </a:solidFill>
                <a:latin typeface="Calibri Italic" pitchFamily="34" charset="0"/>
                <a:ea typeface="Calibri Italic" pitchFamily="34" charset="-122"/>
                <a:cs typeface="Calibri Italic" pitchFamily="34" charset="-120"/>
              </a:rPr>
              <a:t>accuracy_log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223760" y="11704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Post-send reconciliation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63440" y="1536192"/>
            <a:ext cx="4160520" cy="292608"/>
          </a:xfrm>
          <a:prstGeom prst="rect">
            <a:avLst/>
          </a:prstGeom>
          <a:solidFill>
            <a:srgbClr val="243F30"/>
          </a:solidFill>
          <a:ln w="12700">
            <a:solidFill>
              <a:srgbClr val="243F3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15361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9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217920" y="153619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9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040880" y="153619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9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663440" y="1828800"/>
            <a:ext cx="4160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63440" y="1828800"/>
            <a:ext cx="54864" cy="438912"/>
          </a:xfrm>
          <a:prstGeom prst="rect">
            <a:avLst/>
          </a:prstGeom>
          <a:solidFill>
            <a:srgbClr val="2A8A82"/>
          </a:solidFill>
          <a:ln w="12700">
            <a:solidFill>
              <a:srgbClr val="2A8A8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73168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draft_id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217920" y="1874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059168" y="1874520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draft_log.draft_id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663440" y="2267712"/>
            <a:ext cx="4160520" cy="438912"/>
          </a:xfrm>
          <a:prstGeom prst="rect">
            <a:avLst/>
          </a:prstGeom>
          <a:solidFill>
            <a:srgbClr val="F4F0E6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73168" y="23134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reconciled_at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217920" y="23134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059168" y="2313432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reconciler ran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663440" y="2706624"/>
            <a:ext cx="4160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73168" y="27523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edit_distance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217920" y="275234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059168" y="2752344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Levenshtein char distance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663440" y="3145536"/>
            <a:ext cx="4160520" cy="438912"/>
          </a:xfrm>
          <a:prstGeom prst="rect">
            <a:avLst/>
          </a:prstGeom>
          <a:solidFill>
            <a:srgbClr val="F4F0E6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73168" y="31912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accuracy_score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217920" y="319125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059168" y="3191256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100 − edit_pct (capped 100)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663440" y="3584448"/>
            <a:ext cx="4160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73168" y="36301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217920" y="363016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7059168" y="3630168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/ MINOR / MAJOR / REWRITE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663440" y="4023360"/>
            <a:ext cx="4160520" cy="438912"/>
          </a:xfrm>
          <a:prstGeom prst="rect">
            <a:avLst/>
          </a:prstGeom>
          <a:solidFill>
            <a:srgbClr val="F4F0E6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73168" y="4069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semantic_match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6217920" y="4069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059168" y="4069080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similarity check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663440" y="4462272"/>
            <a:ext cx="4160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73168" y="45079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agent_id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6217920" y="45079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7059168" y="4507992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account that sent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43F30"/>
          </a:solidFill>
          <a:ln w="12700">
            <a:solidFill>
              <a:srgbClr val="243F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9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  ·  NEXT STEPS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658368"/>
          </a:xfrm>
          <a:prstGeom prst="rect">
            <a:avLst/>
          </a:prstGeom>
          <a:solidFill>
            <a:srgbClr val="1F3A28"/>
          </a:solidFill>
          <a:ln w="6350">
            <a:solidFill>
              <a:srgbClr val="3A6B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329184" cy="329184"/>
          </a:xfrm>
          <a:prstGeom prst="ellipse">
            <a:avLst/>
          </a:prstGeom>
          <a:solidFill>
            <a:srgbClr val="4A7A2E"/>
          </a:solidFill>
          <a:ln w="12700">
            <a:solidFill>
              <a:srgbClr val="79B8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9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50976" y="93268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WISMO label naming — resolved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50976" y="117043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labels CATALYST_US_WISMO / CATALYST_LIFESTYLE_WISMO confirmed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645920"/>
            <a:ext cx="8503920" cy="658368"/>
          </a:xfrm>
          <a:prstGeom prst="rect">
            <a:avLst/>
          </a:prstGeom>
          <a:solidFill>
            <a:srgbClr val="1F3A28"/>
          </a:solidFill>
          <a:ln w="6350">
            <a:solidFill>
              <a:srgbClr val="3A6B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10512"/>
            <a:ext cx="329184" cy="329184"/>
          </a:xfrm>
          <a:prstGeom prst="ellipse">
            <a:avLst/>
          </a:prstGeom>
          <a:solidFill>
            <a:srgbClr val="4A7A2E"/>
          </a:solidFill>
          <a:ln w="12700">
            <a:solidFill>
              <a:srgbClr val="79B8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10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9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50976" y="17373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staging method — resolved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50976" y="197510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directly to BigQuery via MCP/API confirmed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468880"/>
            <a:ext cx="8503920" cy="1005840"/>
          </a:xfrm>
          <a:prstGeom prst="rect">
            <a:avLst/>
          </a:prstGeom>
          <a:solidFill>
            <a:srgbClr val="3A1010"/>
          </a:solidFill>
          <a:ln w="12700">
            <a:solidFill>
              <a:srgbClr val="B84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468880"/>
            <a:ext cx="91440" cy="1005840"/>
          </a:xfrm>
          <a:prstGeom prst="rect">
            <a:avLst/>
          </a:prstGeom>
          <a:solidFill>
            <a:srgbClr val="B84040"/>
          </a:solidFill>
          <a:ln w="12700">
            <a:solidFill>
              <a:srgbClr val="B84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56032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27980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SP-API credentials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09067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registration status and credentials (Client ID, Client Secret, Refresh Token) needed for US, CA, and UK marketplaces. Blocks Phase 5 entirely.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657600"/>
            <a:ext cx="8503920" cy="1115568"/>
          </a:xfrm>
          <a:prstGeom prst="rect">
            <a:avLst/>
          </a:prstGeom>
          <a:solidFill>
            <a:srgbClr val="243F30"/>
          </a:solidFill>
          <a:ln w="12700">
            <a:solidFill>
              <a:srgbClr val="79B8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657600"/>
            <a:ext cx="91440" cy="1115568"/>
          </a:xfrm>
          <a:prstGeom prst="rect">
            <a:avLst/>
          </a:prstGeom>
          <a:solidFill>
            <a:srgbClr val="79B84D"/>
          </a:solidFill>
          <a:ln w="12700">
            <a:solidFill>
              <a:srgbClr val="79B8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7490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9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now — Phase 1 is ready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05993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Install Shopify CLI on WSL and authenticate against both stores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428853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Create GCP project, enable billing, create dataset and tables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451713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Identify and configure a BigQuery MCP server (required for Phase 3)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Catalyst CS — AI Automation Roadmap</dc:title>
  <dc:subject>PptxGenJS Presentation</dc:subject>
  <dc:creator>Catalyst Products CS Team</dc:creator>
  <cp:lastModifiedBy>Catalyst Products CS Team</cp:lastModifiedBy>
  <cp:revision>1</cp:revision>
  <dcterms:created xsi:type="dcterms:W3CDTF">2026-03-19T21:36:58Z</dcterms:created>
  <dcterms:modified xsi:type="dcterms:W3CDTF">2026-03-19T21:36:58Z</dcterms:modified>
</cp:coreProperties>
</file>